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7556500" cy="10693400"/>
  <p:notesSz cx="6858000" cy="9144000"/>
  <p:embeddedFontLst>
    <p:embeddedFont>
      <p:font typeface="The Youngest Serif" charset="1" panose="00000500000000000000"/>
      <p:regular r:id="rId16"/>
    </p:embeddedFont>
    <p:embeddedFont>
      <p:font typeface="Inter" charset="1" panose="020B0502030000000004"/>
      <p:regular r:id="rId17"/>
    </p:embeddedFont>
    <p:embeddedFont>
      <p:font typeface="Inter Bold" charset="1" panose="020B080203000000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8342" y="-443605"/>
            <a:ext cx="8084549" cy="3002875"/>
            <a:chOff x="0" y="0"/>
            <a:chExt cx="3424748" cy="12720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24748" cy="1272067"/>
            </a:xfrm>
            <a:custGeom>
              <a:avLst/>
              <a:gdLst/>
              <a:ahLst/>
              <a:cxnLst/>
              <a:rect r="r" b="b" t="t" l="l"/>
              <a:pathLst>
                <a:path h="1272067" w="3424748">
                  <a:moveTo>
                    <a:pt x="0" y="0"/>
                  </a:moveTo>
                  <a:lnTo>
                    <a:pt x="3424748" y="0"/>
                  </a:lnTo>
                  <a:lnTo>
                    <a:pt x="3424748" y="1272067"/>
                  </a:lnTo>
                  <a:lnTo>
                    <a:pt x="0" y="1272067"/>
                  </a:lnTo>
                  <a:close/>
                </a:path>
              </a:pathLst>
            </a:custGeom>
            <a:solidFill>
              <a:srgbClr val="324C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49726" y="6790759"/>
            <a:ext cx="5056481" cy="4148896"/>
            <a:chOff x="0" y="0"/>
            <a:chExt cx="2480633" cy="20353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80633" cy="2035385"/>
            </a:xfrm>
            <a:custGeom>
              <a:avLst/>
              <a:gdLst/>
              <a:ahLst/>
              <a:cxnLst/>
              <a:rect r="r" b="b" t="t" l="l"/>
              <a:pathLst>
                <a:path h="2035385" w="2480633">
                  <a:moveTo>
                    <a:pt x="0" y="0"/>
                  </a:moveTo>
                  <a:lnTo>
                    <a:pt x="2480633" y="0"/>
                  </a:lnTo>
                  <a:lnTo>
                    <a:pt x="2480633" y="2035385"/>
                  </a:lnTo>
                  <a:lnTo>
                    <a:pt x="0" y="2035385"/>
                  </a:lnTo>
                  <a:close/>
                </a:path>
              </a:pathLst>
            </a:custGeom>
            <a:solidFill>
              <a:srgbClr val="11367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400623" y="6790759"/>
            <a:ext cx="4164556" cy="4148896"/>
            <a:chOff x="0" y="0"/>
            <a:chExt cx="877931" cy="8746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7931" cy="874630"/>
            </a:xfrm>
            <a:custGeom>
              <a:avLst/>
              <a:gdLst/>
              <a:ahLst/>
              <a:cxnLst/>
              <a:rect r="r" b="b" t="t" l="l"/>
              <a:pathLst>
                <a:path h="874630" w="877931">
                  <a:moveTo>
                    <a:pt x="0" y="0"/>
                  </a:moveTo>
                  <a:lnTo>
                    <a:pt x="877931" y="0"/>
                  </a:lnTo>
                  <a:lnTo>
                    <a:pt x="877931" y="874630"/>
                  </a:lnTo>
                  <a:lnTo>
                    <a:pt x="0" y="874630"/>
                  </a:lnTo>
                  <a:close/>
                </a:path>
              </a:pathLst>
            </a:custGeom>
            <a:blipFill>
              <a:blip r:embed="rId2"/>
              <a:stretch>
                <a:fillRect l="-27813" t="-943" r="-43951" b="-1392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56000" y="3517537"/>
            <a:ext cx="6048000" cy="2026140"/>
            <a:chOff x="0" y="0"/>
            <a:chExt cx="8064000" cy="270152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47625"/>
              <a:ext cx="8064000" cy="1171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600"/>
                </a:lnSpc>
              </a:pPr>
              <a:r>
                <a:rPr lang="en-US" sz="6000">
                  <a:solidFill>
                    <a:srgbClr val="111111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戰爭的帳本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696527"/>
              <a:ext cx="8064000" cy="1004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便宜的無人機逼對手發射昂貴的飛彈，打仗的成本算法變了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224482" y="7712398"/>
            <a:ext cx="2579518" cy="619466"/>
            <a:chOff x="0" y="0"/>
            <a:chExt cx="3439357" cy="82595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408972"/>
              <a:ext cx="3439357" cy="416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599"/>
                </a:lnSpc>
              </a:pPr>
              <a:r>
                <a:rPr lang="en-US" sz="1999" spc="6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[姓名在這裡]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57150"/>
              <a:ext cx="3439357" cy="2933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1920"/>
                </a:lnSpc>
                <a:spcBef>
                  <a:spcPct val="0"/>
                </a:spcBef>
              </a:pPr>
              <a:r>
                <a:rPr lang="en-US" sz="1200" spc="12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收件人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56000" y="846556"/>
            <a:ext cx="2645472" cy="262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400" spc="12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2026年9月13日（星期日）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224482" y="9144554"/>
            <a:ext cx="2579518" cy="625806"/>
            <a:chOff x="0" y="0"/>
            <a:chExt cx="3439357" cy="834408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417425"/>
              <a:ext cx="3439357" cy="416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599"/>
                </a:lnSpc>
              </a:pPr>
              <a:r>
                <a:rPr lang="en-US" sz="1999" spc="6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[姓名在這裡]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57150"/>
              <a:ext cx="3439357" cy="2933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1920"/>
                </a:lnSpc>
                <a:spcBef>
                  <a:spcPct val="0"/>
                </a:spcBef>
              </a:pPr>
              <a:r>
                <a:rPr lang="en-US" sz="1200" spc="12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提報人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390894" y="822488"/>
            <a:ext cx="1413106" cy="30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3"/>
              </a:lnSpc>
              <a:spcBef>
                <a:spcPct val="0"/>
              </a:spcBef>
            </a:pPr>
            <a:r>
              <a:rPr lang="en-US" b="true" sz="1577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無人機時代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36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1908" y="-318663"/>
            <a:ext cx="8243817" cy="2846242"/>
            <a:chOff x="0" y="0"/>
            <a:chExt cx="3492217" cy="1205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92217" cy="1205715"/>
            </a:xfrm>
            <a:custGeom>
              <a:avLst/>
              <a:gdLst/>
              <a:ahLst/>
              <a:cxnLst/>
              <a:rect r="r" b="b" t="t" l="l"/>
              <a:pathLst>
                <a:path h="1205715" w="3492217">
                  <a:moveTo>
                    <a:pt x="0" y="0"/>
                  </a:moveTo>
                  <a:lnTo>
                    <a:pt x="3492217" y="0"/>
                  </a:lnTo>
                  <a:lnTo>
                    <a:pt x="3492217" y="1205715"/>
                  </a:lnTo>
                  <a:lnTo>
                    <a:pt x="0" y="1205715"/>
                  </a:lnTo>
                  <a:close/>
                </a:path>
              </a:pathLst>
            </a:custGeom>
            <a:solidFill>
              <a:srgbClr val="E8ECF2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56000" y="1059338"/>
            <a:ext cx="60480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39"/>
              </a:lnSpc>
              <a:spcBef>
                <a:spcPct val="0"/>
              </a:spcBef>
            </a:pPr>
            <a:r>
              <a:rPr lang="en-US" sz="3399">
                <a:solidFill>
                  <a:srgbClr val="111111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導言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6000" y="1724576"/>
            <a:ext cx="60480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戰爭成本的轉變與影響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334463" y="2527579"/>
            <a:ext cx="8236371" cy="2281557"/>
            <a:chOff x="0" y="0"/>
            <a:chExt cx="1736311" cy="480976"/>
          </a:xfrm>
        </p:grpSpPr>
        <p:sp>
          <p:nvSpPr>
            <p:cNvPr name="Freeform 7" id="7"/>
            <p:cNvSpPr/>
            <p:nvPr/>
          </p:nvSpPr>
          <p:spPr>
            <a:xfrm flipH="false" flipV="false" rot="-348000">
              <a:off x="-19858" y="-86501"/>
              <a:ext cx="1776028" cy="653979"/>
            </a:xfrm>
            <a:custGeom>
              <a:avLst/>
              <a:gdLst/>
              <a:ahLst/>
              <a:cxnLst/>
              <a:rect r="r" b="b" t="t" l="l"/>
              <a:pathLst>
                <a:path h="653979" w="1776028">
                  <a:moveTo>
                    <a:pt x="48605" y="0"/>
                  </a:moveTo>
                  <a:lnTo>
                    <a:pt x="1776028" y="175465"/>
                  </a:lnTo>
                  <a:lnTo>
                    <a:pt x="1727422" y="653978"/>
                  </a:lnTo>
                  <a:lnTo>
                    <a:pt x="0" y="478513"/>
                  </a:lnTo>
                  <a:close/>
                </a:path>
              </a:pathLst>
            </a:custGeom>
            <a:blipFill>
              <a:blip r:embed="rId2"/>
              <a:stretch>
                <a:fillRect l="-7959" t="-162642" r="-9065" b="-21436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56000" y="5177310"/>
            <a:ext cx="6048000" cy="1901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1200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2026 年 2 月 28 日，美國與以色列對伊朗發動了名為「史詩怒火」的空襲行動，這一事件顯示出戰爭成本的根本性轉變。傳統上，防守方的成本通常高於攻擊方，但這次的衝突卻顯示了無人機使用的崛起，使得攻擊方能以</a:t>
            </a:r>
            <a:r>
              <a:rPr lang="en-US" b="true" sz="1200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較低的經濟負擔</a:t>
            </a:r>
            <a:r>
              <a:rPr lang="en-US" sz="1200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進行大規模打擊。伊朗利用 Shahed 無人機進行反擊，而每架無人機的成本僅約為 2 萬至 5 萬美元，這與美國愛國者攔截彈每枚 410 萬美元的價格形成了鮮明對比。這種不平衡使得軍工產業面臨全新的挑戰與機會。進攻方的低成本攻擊令防守方不得不</a:t>
            </a:r>
            <a:r>
              <a:rPr lang="en-US" b="true" sz="1200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大幅增加軍備支出</a:t>
            </a:r>
            <a:r>
              <a:rPr lang="en-US" sz="1200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，並且每一枚攔截彈的需求也隨之上升，這就意味著防守方的軍工企業將迎來新的訂單。因此，這場戰爭的經濟計算將重新塑造軍工產業的賺錢模式。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36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1908" y="-318663"/>
            <a:ext cx="8243817" cy="2846242"/>
            <a:chOff x="0" y="0"/>
            <a:chExt cx="3492217" cy="1205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92217" cy="1205715"/>
            </a:xfrm>
            <a:custGeom>
              <a:avLst/>
              <a:gdLst/>
              <a:ahLst/>
              <a:cxnLst/>
              <a:rect r="r" b="b" t="t" l="l"/>
              <a:pathLst>
                <a:path h="1205715" w="3492217">
                  <a:moveTo>
                    <a:pt x="0" y="0"/>
                  </a:moveTo>
                  <a:lnTo>
                    <a:pt x="3492217" y="0"/>
                  </a:lnTo>
                  <a:lnTo>
                    <a:pt x="3492217" y="1205715"/>
                  </a:lnTo>
                  <a:lnTo>
                    <a:pt x="0" y="1205715"/>
                  </a:lnTo>
                  <a:close/>
                </a:path>
              </a:pathLst>
            </a:custGeom>
            <a:solidFill>
              <a:srgbClr val="E8ECF2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56000" y="1059338"/>
            <a:ext cx="60480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39"/>
              </a:lnSpc>
              <a:spcBef>
                <a:spcPct val="0"/>
              </a:spcBef>
            </a:pPr>
            <a:r>
              <a:rPr lang="en-US" sz="3399">
                <a:solidFill>
                  <a:srgbClr val="111111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誰在賺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6000" y="1724576"/>
            <a:ext cx="60480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軍工產業特性與角色的深入分析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334463" y="2527579"/>
            <a:ext cx="8236371" cy="2281557"/>
            <a:chOff x="0" y="0"/>
            <a:chExt cx="1736311" cy="480976"/>
          </a:xfrm>
        </p:grpSpPr>
        <p:sp>
          <p:nvSpPr>
            <p:cNvPr name="Freeform 7" id="7"/>
            <p:cNvSpPr/>
            <p:nvPr/>
          </p:nvSpPr>
          <p:spPr>
            <a:xfrm flipH="false" flipV="false" rot="426000">
              <a:off x="-23068" y="-105461"/>
              <a:ext cx="1782447" cy="691898"/>
            </a:xfrm>
            <a:custGeom>
              <a:avLst/>
              <a:gdLst/>
              <a:ahLst/>
              <a:cxnLst/>
              <a:rect r="r" b="b" t="t" l="l"/>
              <a:pathLst>
                <a:path h="691898" w="1782447">
                  <a:moveTo>
                    <a:pt x="0" y="214610"/>
                  </a:moveTo>
                  <a:lnTo>
                    <a:pt x="1722998" y="0"/>
                  </a:lnTo>
                  <a:lnTo>
                    <a:pt x="1782447" y="477287"/>
                  </a:lnTo>
                  <a:lnTo>
                    <a:pt x="59450" y="691898"/>
                  </a:lnTo>
                  <a:close/>
                </a:path>
              </a:pathLst>
            </a:custGeom>
            <a:blipFill>
              <a:blip r:embed="rId2"/>
              <a:stretch>
                <a:fillRect l="-16310" t="-63025" r="-14901" b="-9049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56000" y="5177310"/>
            <a:ext cx="6048000" cy="213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1200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軍工產業的獨特性使其在全球經濟中扮演著關鍵角色。首先，</a:t>
            </a:r>
            <a:r>
              <a:rPr lang="en-US" b="true" sz="1200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客戶群體</a:t>
            </a:r>
            <a:r>
              <a:rPr lang="en-US" sz="1200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幾乎完全依賴政府，這使得軍工企業的營運模式相對穩定，但同時也提高了面臨政策變化的風險。其次，軍工產品的開發週期長，從概念到實際部署往往需要數年，這使得企業必須具備持久的資本運作能力。最後，市場受到出口管制的影響，企業必須遵循嚴格的國際規範，以確保產品不被不當使用。</a:t>
            </a:r>
          </a:p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1200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在產業鏈中，角色可分為三個層次：上游零組件供應商如全訊和昇達科，專注於基礎材料的供應；中游系統整合商，如洛克希德·馬丁和漢翔，負責將不同零件整合成完整武器系統；而新勢力則專注於軟體與無人機技術的開發，如Palantir和雷虎。他們的合作與競爭塑造了當今軍工市場的生態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756000" y="3758989"/>
            <a:ext cx="6048000" cy="0"/>
          </a:xfrm>
          <a:prstGeom prst="line">
            <a:avLst/>
          </a:prstGeom>
          <a:ln cap="flat" w="19050">
            <a:solidFill>
              <a:srgbClr val="11367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756000" y="3696271"/>
            <a:ext cx="144486" cy="144486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367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016995" y="3696271"/>
            <a:ext cx="144486" cy="144486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3679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277989" y="3696271"/>
            <a:ext cx="144486" cy="144486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3679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538984" y="3696271"/>
            <a:ext cx="144486" cy="144486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367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799979" y="3696271"/>
            <a:ext cx="144486" cy="144486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3679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56000" y="3283419"/>
            <a:ext cx="82185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111111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EPS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6000" y="4033511"/>
            <a:ext cx="100402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199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每股盈餘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16995" y="3283419"/>
            <a:ext cx="87424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u="none">
                <a:solidFill>
                  <a:srgbClr val="111111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本益比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16995" y="4033511"/>
            <a:ext cx="100402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199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股價評價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77989" y="3035769"/>
            <a:ext cx="821853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u="none">
                <a:solidFill>
                  <a:srgbClr val="111111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營收成長率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77989" y="4033511"/>
            <a:ext cx="100402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199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營收增長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38984" y="3283419"/>
            <a:ext cx="87424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u="none">
                <a:solidFill>
                  <a:srgbClr val="111111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毛利率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38984" y="4033511"/>
            <a:ext cx="100402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199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利潤能力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99979" y="3283419"/>
            <a:ext cx="84804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u="none">
                <a:solidFill>
                  <a:srgbClr val="111111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在手訂單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99979" y="4033511"/>
            <a:ext cx="100402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199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未交貨金額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6000" y="5517506"/>
            <a:ext cx="6048000" cy="142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1200" u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在當前的軍工產業中，</a:t>
            </a:r>
            <a:r>
              <a:rPr lang="en-US" b="true" sz="1200" u="none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財報指標</a:t>
            </a:r>
            <a:r>
              <a:rPr lang="en-US" sz="1200" u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提供了深入的分析角度。首先，EPS（每股盈餘）顯示了公司的獲利情況，影響投資者的信心。其次，本益比作為股價的評價指標，反映了市場對公司的未來成長預期。營收成長率則反映了公司的市場競爭力，顯示出其在行業中的地位。毛利率的高低影響公司盈利能力，而在手訂單則顯示了未來的收入潛力。這些指標共同構成了軍工產業的一個全貌，揭示了在當今競爭激烈的市場中，企業如何運作並獲利的關鍵。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-341908" y="-318663"/>
            <a:ext cx="8243817" cy="2846242"/>
            <a:chOff x="0" y="0"/>
            <a:chExt cx="3492217" cy="12057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92217" cy="1205715"/>
            </a:xfrm>
            <a:custGeom>
              <a:avLst/>
              <a:gdLst/>
              <a:ahLst/>
              <a:cxnLst/>
              <a:rect r="r" b="b" t="t" l="l"/>
              <a:pathLst>
                <a:path h="1205715" w="3492217">
                  <a:moveTo>
                    <a:pt x="0" y="0"/>
                  </a:moveTo>
                  <a:lnTo>
                    <a:pt x="3492217" y="0"/>
                  </a:lnTo>
                  <a:lnTo>
                    <a:pt x="3492217" y="1205715"/>
                  </a:lnTo>
                  <a:lnTo>
                    <a:pt x="0" y="1205715"/>
                  </a:lnTo>
                  <a:close/>
                </a:path>
              </a:pathLst>
            </a:custGeom>
            <a:solidFill>
              <a:srgbClr val="11367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6000" y="1030763"/>
            <a:ext cx="6048000" cy="945273"/>
            <a:chOff x="0" y="0"/>
            <a:chExt cx="8064000" cy="1260364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28575"/>
              <a:ext cx="8064000" cy="651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3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財報分析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918734"/>
              <a:ext cx="8064000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8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五個關鍵指標影響軍工產業發展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36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389" y="-129660"/>
            <a:ext cx="7848043" cy="2597231"/>
            <a:chOff x="0" y="0"/>
            <a:chExt cx="3612384" cy="11954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2384" cy="1195482"/>
            </a:xfrm>
            <a:custGeom>
              <a:avLst/>
              <a:gdLst/>
              <a:ahLst/>
              <a:cxnLst/>
              <a:rect r="r" b="b" t="t" l="l"/>
              <a:pathLst>
                <a:path h="1195482" w="3612384">
                  <a:moveTo>
                    <a:pt x="0" y="0"/>
                  </a:moveTo>
                  <a:lnTo>
                    <a:pt x="3612384" y="0"/>
                  </a:lnTo>
                  <a:lnTo>
                    <a:pt x="3612384" y="1195482"/>
                  </a:lnTo>
                  <a:lnTo>
                    <a:pt x="0" y="1195482"/>
                  </a:lnTo>
                  <a:close/>
                </a:path>
              </a:pathLst>
            </a:custGeom>
            <a:solidFill>
              <a:srgbClr val="E8EC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6000" y="3003425"/>
            <a:ext cx="2189803" cy="1938278"/>
            <a:chOff x="0" y="0"/>
            <a:chExt cx="461633" cy="408609"/>
          </a:xfrm>
        </p:grpSpPr>
        <p:sp>
          <p:nvSpPr>
            <p:cNvPr name="Freeform 5" id="5"/>
            <p:cNvSpPr/>
            <p:nvPr/>
          </p:nvSpPr>
          <p:spPr>
            <a:xfrm flipH="false" flipV="false" rot="-168000">
              <a:off x="-9705" y="-11031"/>
              <a:ext cx="481042" cy="430672"/>
            </a:xfrm>
            <a:custGeom>
              <a:avLst/>
              <a:gdLst/>
              <a:ahLst/>
              <a:cxnLst/>
              <a:rect r="r" b="b" t="t" l="l"/>
              <a:pathLst>
                <a:path h="430672" w="481042">
                  <a:moveTo>
                    <a:pt x="19961" y="0"/>
                  </a:moveTo>
                  <a:lnTo>
                    <a:pt x="481043" y="22550"/>
                  </a:lnTo>
                  <a:lnTo>
                    <a:pt x="461082" y="430671"/>
                  </a:lnTo>
                  <a:lnTo>
                    <a:pt x="0" y="408121"/>
                  </a:lnTo>
                  <a:close/>
                </a:path>
              </a:pathLst>
            </a:custGeom>
            <a:blipFill>
              <a:blip r:embed="rId2"/>
              <a:stretch>
                <a:fillRect l="-31387" t="-10355" r="-26216" b="-67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6000" y="5099431"/>
            <a:ext cx="2189803" cy="1938278"/>
            <a:chOff x="0" y="0"/>
            <a:chExt cx="461633" cy="4086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1633" cy="408609"/>
            </a:xfrm>
            <a:custGeom>
              <a:avLst/>
              <a:gdLst/>
              <a:ahLst/>
              <a:cxnLst/>
              <a:rect r="r" b="b" t="t" l="l"/>
              <a:pathLst>
                <a:path h="408609" w="461633">
                  <a:moveTo>
                    <a:pt x="0" y="0"/>
                  </a:moveTo>
                  <a:lnTo>
                    <a:pt x="461633" y="0"/>
                  </a:lnTo>
                  <a:lnTo>
                    <a:pt x="461633" y="408609"/>
                  </a:lnTo>
                  <a:lnTo>
                    <a:pt x="0" y="408609"/>
                  </a:lnTo>
                  <a:close/>
                </a:path>
              </a:pathLst>
            </a:custGeom>
            <a:blipFill>
              <a:blip r:embed="rId3"/>
              <a:stretch>
                <a:fillRect l="-9125" t="-9890" r="-36478" b="8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56000" y="7195437"/>
            <a:ext cx="2189803" cy="1938278"/>
            <a:chOff x="0" y="0"/>
            <a:chExt cx="461633" cy="4086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1633" cy="408609"/>
            </a:xfrm>
            <a:custGeom>
              <a:avLst/>
              <a:gdLst/>
              <a:ahLst/>
              <a:cxnLst/>
              <a:rect r="r" b="b" t="t" l="l"/>
              <a:pathLst>
                <a:path h="408609" w="461633">
                  <a:moveTo>
                    <a:pt x="0" y="0"/>
                  </a:moveTo>
                  <a:lnTo>
                    <a:pt x="461633" y="0"/>
                  </a:lnTo>
                  <a:lnTo>
                    <a:pt x="461633" y="408609"/>
                  </a:lnTo>
                  <a:lnTo>
                    <a:pt x="0" y="408609"/>
                  </a:lnTo>
                  <a:close/>
                </a:path>
              </a:pathLst>
            </a:custGeom>
            <a:blipFill>
              <a:blip r:embed="rId4"/>
              <a:stretch>
                <a:fillRect l="-17938" t="-5228" r="-21820" b="3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281700" y="2946275"/>
            <a:ext cx="3522300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1200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在當前的國際局勢下，戰爭的經濟影響顯而易見。首先，戰爭直接帶來的訂單暴增，使得像洛克希德·馬丁和RTX這樣的傳統軍工企業在短期內獲得了前所未有的利潤。其次，軟體的獲利潛力越來越明顯，Palantir的毛利率達到82%，顯示出數據分析在現代戰爭中的重要角色。最後，概念股的表現卻不一定會與實際獲利掛鉤，雷虎的高本益比顯示出市場對其未來潛力的過度期待，而漢翔因為交機延遲而面臨罰款，這些都提醒投資者要謹慎評估。戰爭背後的經濟邏輯正快速變化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6000" y="1059338"/>
            <a:ext cx="60480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39"/>
              </a:lnSpc>
            </a:pPr>
            <a:r>
              <a:rPr lang="en-US" sz="3399">
                <a:solidFill>
                  <a:srgbClr val="111111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三個觀察：戰爭的經濟影響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692241" y="9552812"/>
            <a:ext cx="9065265" cy="1738709"/>
            <a:chOff x="0" y="0"/>
            <a:chExt cx="4172660" cy="8003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72660" cy="800312"/>
            </a:xfrm>
            <a:custGeom>
              <a:avLst/>
              <a:gdLst/>
              <a:ahLst/>
              <a:cxnLst/>
              <a:rect r="r" b="b" t="t" l="l"/>
              <a:pathLst>
                <a:path h="800312" w="4172660">
                  <a:moveTo>
                    <a:pt x="0" y="0"/>
                  </a:moveTo>
                  <a:lnTo>
                    <a:pt x="4172660" y="0"/>
                  </a:lnTo>
                  <a:lnTo>
                    <a:pt x="4172660" y="800312"/>
                  </a:lnTo>
                  <a:lnTo>
                    <a:pt x="0" y="800312"/>
                  </a:lnTo>
                  <a:close/>
                </a:path>
              </a:pathLst>
            </a:custGeom>
            <a:solidFill>
              <a:srgbClr val="7389B2"/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36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08717" y="1270258"/>
            <a:ext cx="3043238" cy="5661187"/>
            <a:chOff x="0" y="0"/>
            <a:chExt cx="1400775" cy="26057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0775" cy="2605793"/>
            </a:xfrm>
            <a:custGeom>
              <a:avLst/>
              <a:gdLst/>
              <a:ahLst/>
              <a:cxnLst/>
              <a:rect r="r" b="b" t="t" l="l"/>
              <a:pathLst>
                <a:path h="2605793" w="1400775">
                  <a:moveTo>
                    <a:pt x="0" y="0"/>
                  </a:moveTo>
                  <a:lnTo>
                    <a:pt x="1400775" y="0"/>
                  </a:lnTo>
                  <a:lnTo>
                    <a:pt x="1400775" y="2605793"/>
                  </a:lnTo>
                  <a:lnTo>
                    <a:pt x="0" y="2605793"/>
                  </a:lnTo>
                  <a:close/>
                </a:path>
              </a:pathLst>
            </a:custGeom>
            <a:solidFill>
              <a:srgbClr val="E8EC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60687" y="6931444"/>
            <a:ext cx="5169404" cy="2621367"/>
            <a:chOff x="0" y="0"/>
            <a:chExt cx="2379430" cy="12065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79430" cy="1206592"/>
            </a:xfrm>
            <a:custGeom>
              <a:avLst/>
              <a:gdLst/>
              <a:ahLst/>
              <a:cxnLst/>
              <a:rect r="r" b="b" t="t" l="l"/>
              <a:pathLst>
                <a:path h="1206592" w="2379430">
                  <a:moveTo>
                    <a:pt x="0" y="0"/>
                  </a:moveTo>
                  <a:lnTo>
                    <a:pt x="2379430" y="0"/>
                  </a:lnTo>
                  <a:lnTo>
                    <a:pt x="2379430" y="1206592"/>
                  </a:lnTo>
                  <a:lnTo>
                    <a:pt x="0" y="1206592"/>
                  </a:lnTo>
                  <a:close/>
                </a:path>
              </a:pathLst>
            </a:custGeom>
            <a:solidFill>
              <a:srgbClr val="7389B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9575" y="1270258"/>
            <a:ext cx="5048292" cy="2948439"/>
            <a:chOff x="0" y="0"/>
            <a:chExt cx="1064232" cy="621561"/>
          </a:xfrm>
        </p:grpSpPr>
        <p:sp>
          <p:nvSpPr>
            <p:cNvPr name="Freeform 7" id="7"/>
            <p:cNvSpPr/>
            <p:nvPr/>
          </p:nvSpPr>
          <p:spPr>
            <a:xfrm flipH="false" flipV="false" rot="-59999">
              <a:off x="-5343" y="-9239"/>
              <a:ext cx="1074917" cy="640040"/>
            </a:xfrm>
            <a:custGeom>
              <a:avLst/>
              <a:gdLst/>
              <a:ahLst/>
              <a:cxnLst/>
              <a:rect r="r" b="b" t="t" l="l"/>
              <a:pathLst>
                <a:path h="640040" w="1074917">
                  <a:moveTo>
                    <a:pt x="10848" y="0"/>
                  </a:moveTo>
                  <a:lnTo>
                    <a:pt x="1074917" y="18573"/>
                  </a:lnTo>
                  <a:lnTo>
                    <a:pt x="1064070" y="640040"/>
                  </a:lnTo>
                  <a:lnTo>
                    <a:pt x="0" y="621466"/>
                  </a:lnTo>
                  <a:close/>
                </a:path>
              </a:pathLst>
            </a:custGeom>
            <a:blipFill>
              <a:blip r:embed="rId2"/>
              <a:stretch>
                <a:fillRect l="-13808" t="-13804" r="-3058" b="-1696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808717" y="6931444"/>
            <a:ext cx="3225649" cy="2621367"/>
            <a:chOff x="0" y="0"/>
            <a:chExt cx="680000" cy="5526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0000" cy="552611"/>
            </a:xfrm>
            <a:custGeom>
              <a:avLst/>
              <a:gdLst/>
              <a:ahLst/>
              <a:cxnLst/>
              <a:rect r="r" b="b" t="t" l="l"/>
              <a:pathLst>
                <a:path h="552611" w="680000">
                  <a:moveTo>
                    <a:pt x="0" y="0"/>
                  </a:moveTo>
                  <a:lnTo>
                    <a:pt x="680000" y="0"/>
                  </a:lnTo>
                  <a:lnTo>
                    <a:pt x="680000" y="552611"/>
                  </a:lnTo>
                  <a:lnTo>
                    <a:pt x="0" y="552611"/>
                  </a:lnTo>
                  <a:close/>
                </a:path>
              </a:pathLst>
            </a:custGeom>
            <a:blipFill>
              <a:blip r:embed="rId3"/>
              <a:stretch>
                <a:fillRect l="-9770" t="-31" r="-30744" b="-1495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4634" y="4952122"/>
            <a:ext cx="3374349" cy="1244186"/>
            <a:chOff x="0" y="0"/>
            <a:chExt cx="4499132" cy="1658915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0"/>
              <a:ext cx="4499132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399">
                  <a:solidFill>
                    <a:srgbClr val="FFFFFF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美國的先進軍事科技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687153"/>
              <a:ext cx="4499132" cy="9717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在對伊朗的軍事行動中，美國使用了包括戰斧巡弋飛彈、隱形轟炸機及高科技監控系統等多種</a:t>
              </a:r>
              <a:r>
                <a:rPr lang="en-US" b="true" sz="14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尖端技術</a:t>
              </a:r>
              <a:r>
                <a:rPr lang="en-US" sz="1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，提升攻擊精度。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36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1908" y="-318663"/>
            <a:ext cx="8243817" cy="2846242"/>
            <a:chOff x="0" y="0"/>
            <a:chExt cx="3492217" cy="1205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92217" cy="1205715"/>
            </a:xfrm>
            <a:custGeom>
              <a:avLst/>
              <a:gdLst/>
              <a:ahLst/>
              <a:cxnLst/>
              <a:rect r="r" b="b" t="t" l="l"/>
              <a:pathLst>
                <a:path h="1205715" w="3492217">
                  <a:moveTo>
                    <a:pt x="0" y="0"/>
                  </a:moveTo>
                  <a:lnTo>
                    <a:pt x="3492217" y="0"/>
                  </a:lnTo>
                  <a:lnTo>
                    <a:pt x="3492217" y="1205715"/>
                  </a:lnTo>
                  <a:lnTo>
                    <a:pt x="0" y="1205715"/>
                  </a:lnTo>
                  <a:close/>
                </a:path>
              </a:pathLst>
            </a:custGeom>
            <a:solidFill>
              <a:srgbClr val="E8ECF2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56000" y="1059338"/>
            <a:ext cx="60480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39"/>
              </a:lnSpc>
              <a:spcBef>
                <a:spcPct val="0"/>
              </a:spcBef>
            </a:pPr>
            <a:r>
              <a:rPr lang="en-US" sz="3399">
                <a:solidFill>
                  <a:srgbClr val="111111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攔截彈消耗戰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6000" y="1724576"/>
            <a:ext cx="60480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美國愛國者攔截彈庫存與產能的挑戰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334463" y="2527579"/>
            <a:ext cx="8236371" cy="2281557"/>
            <a:chOff x="0" y="0"/>
            <a:chExt cx="1736311" cy="480976"/>
          </a:xfrm>
        </p:grpSpPr>
        <p:sp>
          <p:nvSpPr>
            <p:cNvPr name="Freeform 7" id="7"/>
            <p:cNvSpPr/>
            <p:nvPr/>
          </p:nvSpPr>
          <p:spPr>
            <a:xfrm flipH="false" flipV="false" rot="312000">
              <a:off x="-18223" y="-77693"/>
              <a:ext cx="1772758" cy="636363"/>
            </a:xfrm>
            <a:custGeom>
              <a:avLst/>
              <a:gdLst/>
              <a:ahLst/>
              <a:cxnLst/>
              <a:rect r="r" b="b" t="t" l="l"/>
              <a:pathLst>
                <a:path h="636363" w="1772758">
                  <a:moveTo>
                    <a:pt x="0" y="157366"/>
                  </a:moveTo>
                  <a:lnTo>
                    <a:pt x="1729165" y="0"/>
                  </a:lnTo>
                  <a:lnTo>
                    <a:pt x="1772758" y="478996"/>
                  </a:lnTo>
                  <a:lnTo>
                    <a:pt x="43592" y="636362"/>
                  </a:lnTo>
                  <a:close/>
                </a:path>
              </a:pathLst>
            </a:custGeom>
            <a:blipFill>
              <a:blip r:embed="rId2"/>
              <a:stretch>
                <a:fillRect l="-13511" t="-140580" r="-9671" b="-27447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56000" y="5177310"/>
            <a:ext cx="6048000" cy="213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1200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戰爭的爆發讓美國愛國者攔截彈的需求急劇上升。根據報導，開戰不到半年，</a:t>
            </a:r>
            <a:r>
              <a:rPr lang="en-US" b="true" sz="1200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美國用掉約三分之二的愛國者攔截彈庫存</a:t>
            </a:r>
            <a:r>
              <a:rPr lang="en-US" sz="1200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，在戰前庫存約2,330枚的情況下，現存僅剩約800枚。這對於進行長期抵抗的美軍來說，是個嚴峻的挑戰。洛克希德·馬丁年產約600枚愛國者攔截彈，但美國陸軍已簽下為期七年的580億美元合約，目標是將年產能提升至2,000枚。這將必然影響到整體的軍事戰略與作戰能力。</a:t>
            </a:r>
          </a:p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1200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此外，AI技術的引入也引發了相當的爭議。報導指出，Palantir的Maven系統在目標辨識上，其準確率約為60%，而人類分析師的準確率高達84%。因此，有必要進一步調查AI在選目標方面的效能，特別是在與人類分析師的表現相比時。這場攔截彈的消耗戰不僅是物資的較量，更是科技與決策能力的競爭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36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08717" y="1270258"/>
            <a:ext cx="3043238" cy="5661187"/>
            <a:chOff x="0" y="0"/>
            <a:chExt cx="1400775" cy="26057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0775" cy="2605793"/>
            </a:xfrm>
            <a:custGeom>
              <a:avLst/>
              <a:gdLst/>
              <a:ahLst/>
              <a:cxnLst/>
              <a:rect r="r" b="b" t="t" l="l"/>
              <a:pathLst>
                <a:path h="2605793" w="1400775">
                  <a:moveTo>
                    <a:pt x="0" y="0"/>
                  </a:moveTo>
                  <a:lnTo>
                    <a:pt x="1400775" y="0"/>
                  </a:lnTo>
                  <a:lnTo>
                    <a:pt x="1400775" y="2605793"/>
                  </a:lnTo>
                  <a:lnTo>
                    <a:pt x="0" y="2605793"/>
                  </a:lnTo>
                  <a:close/>
                </a:path>
              </a:pathLst>
            </a:custGeom>
            <a:solidFill>
              <a:srgbClr val="E8EC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60687" y="6931444"/>
            <a:ext cx="5169404" cy="2621367"/>
            <a:chOff x="0" y="0"/>
            <a:chExt cx="2379430" cy="12065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79430" cy="1206592"/>
            </a:xfrm>
            <a:custGeom>
              <a:avLst/>
              <a:gdLst/>
              <a:ahLst/>
              <a:cxnLst/>
              <a:rect r="r" b="b" t="t" l="l"/>
              <a:pathLst>
                <a:path h="1206592" w="2379430">
                  <a:moveTo>
                    <a:pt x="0" y="0"/>
                  </a:moveTo>
                  <a:lnTo>
                    <a:pt x="2379430" y="0"/>
                  </a:lnTo>
                  <a:lnTo>
                    <a:pt x="2379430" y="1206592"/>
                  </a:lnTo>
                  <a:lnTo>
                    <a:pt x="0" y="1206592"/>
                  </a:lnTo>
                  <a:close/>
                </a:path>
              </a:pathLst>
            </a:custGeom>
            <a:solidFill>
              <a:srgbClr val="7389B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9575" y="1270258"/>
            <a:ext cx="5048292" cy="2948439"/>
            <a:chOff x="0" y="0"/>
            <a:chExt cx="1064232" cy="621561"/>
          </a:xfrm>
        </p:grpSpPr>
        <p:sp>
          <p:nvSpPr>
            <p:cNvPr name="Freeform 7" id="7"/>
            <p:cNvSpPr/>
            <p:nvPr/>
          </p:nvSpPr>
          <p:spPr>
            <a:xfrm flipH="false" flipV="false" rot="-29999">
              <a:off x="-2692" y="-4632"/>
              <a:ext cx="1069615" cy="630825"/>
            </a:xfrm>
            <a:custGeom>
              <a:avLst/>
              <a:gdLst/>
              <a:ahLst/>
              <a:cxnLst/>
              <a:rect r="r" b="b" t="t" l="l"/>
              <a:pathLst>
                <a:path h="630825" w="1069615">
                  <a:moveTo>
                    <a:pt x="5424" y="0"/>
                  </a:moveTo>
                  <a:lnTo>
                    <a:pt x="1069615" y="9287"/>
                  </a:lnTo>
                  <a:lnTo>
                    <a:pt x="1064191" y="630825"/>
                  </a:lnTo>
                  <a:lnTo>
                    <a:pt x="0" y="621538"/>
                  </a:lnTo>
                  <a:close/>
                </a:path>
              </a:pathLst>
            </a:custGeom>
            <a:blipFill>
              <a:blip r:embed="rId2"/>
              <a:stretch>
                <a:fillRect l="-11178" t="-13615" r="-4730" b="-995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808717" y="6931444"/>
            <a:ext cx="3225649" cy="2621367"/>
            <a:chOff x="0" y="0"/>
            <a:chExt cx="680000" cy="552611"/>
          </a:xfrm>
        </p:grpSpPr>
        <p:sp>
          <p:nvSpPr>
            <p:cNvPr name="Freeform 9" id="9"/>
            <p:cNvSpPr/>
            <p:nvPr/>
          </p:nvSpPr>
          <p:spPr>
            <a:xfrm flipH="false" flipV="false" rot="-240000">
              <a:off x="-18446" y="-23044"/>
              <a:ext cx="716892" cy="598699"/>
            </a:xfrm>
            <a:custGeom>
              <a:avLst/>
              <a:gdLst/>
              <a:ahLst/>
              <a:cxnLst/>
              <a:rect r="r" b="b" t="t" l="l"/>
              <a:pathLst>
                <a:path h="598699" w="716892">
                  <a:moveTo>
                    <a:pt x="38548" y="0"/>
                  </a:moveTo>
                  <a:lnTo>
                    <a:pt x="716892" y="47434"/>
                  </a:lnTo>
                  <a:lnTo>
                    <a:pt x="678344" y="598699"/>
                  </a:lnTo>
                  <a:lnTo>
                    <a:pt x="0" y="551265"/>
                  </a:lnTo>
                  <a:close/>
                </a:path>
              </a:pathLst>
            </a:custGeom>
            <a:blipFill>
              <a:blip r:embed="rId3"/>
              <a:stretch>
                <a:fillRect l="-23148" t="-6290" r="-14867" b="-381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4634" y="4952122"/>
            <a:ext cx="3374349" cy="1244186"/>
            <a:chOff x="0" y="0"/>
            <a:chExt cx="4499132" cy="1658915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0"/>
              <a:ext cx="4499132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399">
                  <a:solidFill>
                    <a:srgbClr val="FFFFFF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戰爭的新樣貌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687153"/>
              <a:ext cx="4499132" cy="9717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近年的衝突顯示，戰爭正轉向無人化與成本效益，無人機和軟體的使用將重塑各國的軍事策略和資源配置。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36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1908" y="-318663"/>
            <a:ext cx="8243817" cy="2846242"/>
            <a:chOff x="0" y="0"/>
            <a:chExt cx="3492217" cy="1205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92217" cy="1205715"/>
            </a:xfrm>
            <a:custGeom>
              <a:avLst/>
              <a:gdLst/>
              <a:ahLst/>
              <a:cxnLst/>
              <a:rect r="r" b="b" t="t" l="l"/>
              <a:pathLst>
                <a:path h="1205715" w="3492217">
                  <a:moveTo>
                    <a:pt x="0" y="0"/>
                  </a:moveTo>
                  <a:lnTo>
                    <a:pt x="3492217" y="0"/>
                  </a:lnTo>
                  <a:lnTo>
                    <a:pt x="3492217" y="1205715"/>
                  </a:lnTo>
                  <a:lnTo>
                    <a:pt x="0" y="1205715"/>
                  </a:lnTo>
                  <a:close/>
                </a:path>
              </a:pathLst>
            </a:custGeom>
            <a:solidFill>
              <a:srgbClr val="E8ECF2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56000" y="1059338"/>
            <a:ext cx="60480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39"/>
              </a:lnSpc>
              <a:spcBef>
                <a:spcPct val="0"/>
              </a:spcBef>
            </a:pPr>
            <a:r>
              <a:rPr lang="en-US" sz="3399">
                <a:solidFill>
                  <a:srgbClr val="111111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台灣關係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6000" y="1724576"/>
            <a:ext cx="60480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台灣在低成本無人機市場中的機會與挑戰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334463" y="2527579"/>
            <a:ext cx="8236371" cy="2281557"/>
            <a:chOff x="0" y="0"/>
            <a:chExt cx="1736311" cy="480976"/>
          </a:xfrm>
        </p:grpSpPr>
        <p:sp>
          <p:nvSpPr>
            <p:cNvPr name="Freeform 7" id="7"/>
            <p:cNvSpPr/>
            <p:nvPr/>
          </p:nvSpPr>
          <p:spPr>
            <a:xfrm flipH="false" flipV="false" rot="-29999">
              <a:off x="-2066" y="-7567"/>
              <a:ext cx="1740443" cy="496109"/>
            </a:xfrm>
            <a:custGeom>
              <a:avLst/>
              <a:gdLst/>
              <a:ahLst/>
              <a:cxnLst/>
              <a:rect r="r" b="b" t="t" l="l"/>
              <a:pathLst>
                <a:path h="496109" w="1740443">
                  <a:moveTo>
                    <a:pt x="4198" y="0"/>
                  </a:moveTo>
                  <a:lnTo>
                    <a:pt x="1740443" y="15152"/>
                  </a:lnTo>
                  <a:lnTo>
                    <a:pt x="1736246" y="496109"/>
                  </a:lnTo>
                  <a:lnTo>
                    <a:pt x="0" y="480957"/>
                  </a:lnTo>
                  <a:close/>
                </a:path>
              </a:pathLst>
            </a:custGeom>
            <a:blipFill>
              <a:blip r:embed="rId2"/>
              <a:stretch>
                <a:fillRect l="-5470" t="-76009" r="-1006" b="-7286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56000" y="5177310"/>
            <a:ext cx="6048000" cy="1901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1200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隨著軍工產業的演變，低成本無人機已成為未來戰爭的重要工具。這種趨勢對於台灣而言，既是機會也是挑戰。台灣在半導體產業的優勢可以有效切入無人機的上游市場，提供必要的電子元件與智能技術。尤其在當前國際局勢緊張的背景下，無人機的使用不僅限於軍事，亦可擴展至農業、物流等多個領域，提高效率與降低成本。</a:t>
            </a:r>
          </a:p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1200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雷虎無人機的年產能已達到12萬架，顯示出台灣在這一領域的潛力。然而，機會與挑戰並存，台灣需面對的競爭對手不僅是國內同業，還包括國際市場上的強勁競爭者。漢翔在手訂單逾1,000億元，顯示出市場需求，但這並不等於獲利。未來，台灣必須通過技術創新和市場策略，提升自身在全球無人機市場中的競爭力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36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9084" y="3002730"/>
            <a:ext cx="8278168" cy="8069923"/>
            <a:chOff x="0" y="0"/>
            <a:chExt cx="1745123" cy="1701222"/>
          </a:xfrm>
        </p:grpSpPr>
        <p:sp>
          <p:nvSpPr>
            <p:cNvPr name="Freeform 3" id="3"/>
            <p:cNvSpPr/>
            <p:nvPr/>
          </p:nvSpPr>
          <p:spPr>
            <a:xfrm flipH="false" flipV="false" rot="-102000">
              <a:off x="-24850" y="-25511"/>
              <a:ext cx="1794823" cy="1752245"/>
            </a:xfrm>
            <a:custGeom>
              <a:avLst/>
              <a:gdLst/>
              <a:ahLst/>
              <a:cxnLst/>
              <a:rect r="r" b="b" t="t" l="l"/>
              <a:pathLst>
                <a:path h="1752245" w="1794823">
                  <a:moveTo>
                    <a:pt x="50468" y="0"/>
                  </a:moveTo>
                  <a:lnTo>
                    <a:pt x="1794823" y="51771"/>
                  </a:lnTo>
                  <a:lnTo>
                    <a:pt x="1744354" y="1752245"/>
                  </a:lnTo>
                  <a:lnTo>
                    <a:pt x="0" y="1700473"/>
                  </a:lnTo>
                  <a:close/>
                </a:path>
              </a:pathLst>
            </a:custGeom>
            <a:blipFill>
              <a:blip r:embed="rId2"/>
              <a:stretch>
                <a:fillRect l="-51198" t="-1543" r="-12259" b="-1000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09582" y="-409582"/>
            <a:ext cx="4189582" cy="5517043"/>
            <a:chOff x="0" y="0"/>
            <a:chExt cx="1755502" cy="23117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55502" cy="2311730"/>
            </a:xfrm>
            <a:custGeom>
              <a:avLst/>
              <a:gdLst/>
              <a:ahLst/>
              <a:cxnLst/>
              <a:rect r="r" b="b" t="t" l="l"/>
              <a:pathLst>
                <a:path h="2311730" w="1755502">
                  <a:moveTo>
                    <a:pt x="0" y="0"/>
                  </a:moveTo>
                  <a:lnTo>
                    <a:pt x="1755502" y="0"/>
                  </a:lnTo>
                  <a:lnTo>
                    <a:pt x="1755502" y="2311730"/>
                  </a:lnTo>
                  <a:lnTo>
                    <a:pt x="0" y="2311730"/>
                  </a:lnTo>
                  <a:close/>
                </a:path>
              </a:pathLst>
            </a:custGeom>
            <a:solidFill>
              <a:srgbClr val="E8ECF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56000" y="775050"/>
            <a:ext cx="2446231" cy="46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0"/>
              </a:lnSpc>
              <a:spcBef>
                <a:spcPct val="0"/>
              </a:spcBef>
            </a:pPr>
            <a:r>
              <a:rPr lang="en-US" sz="3200" spc="-32">
                <a:solidFill>
                  <a:srgbClr val="111111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結論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56000" y="3841994"/>
            <a:ext cx="2774780" cy="850775"/>
            <a:chOff x="0" y="0"/>
            <a:chExt cx="3699706" cy="113436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755436"/>
              <a:ext cx="3699706" cy="378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523"/>
                </a:lnSpc>
              </a:pPr>
              <a:r>
                <a:rPr lang="en-US" sz="1577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123-456-7890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44380"/>
              <a:ext cx="3699706" cy="378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523"/>
                </a:lnSpc>
              </a:pPr>
              <a:r>
                <a:rPr lang="en-US" sz="1577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hello@reallygreatsite.com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3699706" cy="378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523"/>
                </a:lnSpc>
              </a:pPr>
              <a:r>
                <a:rPr lang="en-US" sz="1577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www.reallygreatsite.com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963447" y="1317594"/>
            <a:ext cx="1413106" cy="30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3"/>
              </a:lnSpc>
              <a:spcBef>
                <a:spcPct val="0"/>
              </a:spcBef>
            </a:pPr>
            <a:r>
              <a:rPr lang="en-US" b="true" sz="157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戰爭的帳本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報告 - 戰爭的帳本</dc:description>
  <dc:identifier>DAHVGXzmWuE</dc:identifier>
  <dcterms:modified xsi:type="dcterms:W3CDTF">2011-08-01T06:04:30Z</dcterms:modified>
  <cp:revision>1</cp:revision>
  <dc:title>報告 - 戰爭的帳本</dc:title>
</cp:coreProperties>
</file>